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5EFBA-085B-2BB8-136C-61BD5F94D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C6793A-A95C-C984-57F7-4B717F13FF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3528D-E361-35F6-FE08-911FF36D5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47A4-55D6-47CF-930A-266F8800CC9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6EEBE-5A35-99E7-0E3F-28D3AD1E7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28F44-4152-B478-6C66-269080D2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96D2-B383-42B0-A3CD-A41DCC7F4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568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B130-21F4-26DF-59D5-DFFE74412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7F68F-66E3-F9C7-9D30-1F0C1B9EC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42EFA-4D9B-1DD7-BD25-DE8FB2EE3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47A4-55D6-47CF-930A-266F8800CC9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768A4-D79F-5977-E644-315929131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28C9A-B2D1-B67B-6E00-D8B6CA5E0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96D2-B383-42B0-A3CD-A41DCC7F4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431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8354-DAD2-292D-2BAD-F4AB8D67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41851-29DF-E181-CC8D-3FE202DF8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94AFA-E35D-1917-1DD0-B84FE1326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47A4-55D6-47CF-930A-266F8800CC9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725C5-E999-F282-596A-FE2A28E1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B6327-CBF3-DB0C-EA5C-C043696FF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96D2-B383-42B0-A3CD-A41DCC7F4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15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A3439-C990-FAAF-0683-466987DF6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0CF52-1B8A-821A-8A9C-DA3E0D23CD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806A8-AD62-741C-24FF-D0A99D3B2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0D2C8-2565-052C-DFF2-294C93AE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47A4-55D6-47CF-930A-266F8800CC9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824A5-1933-71F4-CB8C-3D060C42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69E99-67FD-580D-EC0D-01ED4EAC9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96D2-B383-42B0-A3CD-A41DCC7F4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864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A14B3-499C-69A5-20EE-E9F6E9725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D11D4-188C-ECE1-573B-44583CCD5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35C27A-C982-1E54-02E6-5AA1AF068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BD1D4-92B0-A446-13C1-47A660488A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087F6A-4F63-9112-A3A7-00C167B146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444E14-3748-4A07-F8F8-7483D9D5B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47A4-55D6-47CF-930A-266F8800CC9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926E10-26A7-A024-240D-FD7ABD1CD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65420B-16F4-4DC8-8FFB-D4B791789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96D2-B383-42B0-A3CD-A41DCC7F4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901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FD111-9989-4272-BAD1-65AB517DE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E6E0C3-A9C6-F68B-7C22-ECF335F3A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47A4-55D6-47CF-930A-266F8800CC9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B2FB21-8AE9-9976-B244-D4610E4AD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11D52C-F00D-2AF6-3B6A-804E4F794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96D2-B383-42B0-A3CD-A41DCC7F4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813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CCCFF2-67CF-8ABA-4721-561BAADBD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47A4-55D6-47CF-930A-266F8800CC9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5ED27-B560-EB68-DF60-C9F8CA7DE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A6EF1-973C-EB73-3B36-7D28F4000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96D2-B383-42B0-A3CD-A41DCC7F4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747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70698-3111-164C-8EA1-701C82204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59113-CF03-038C-99C0-9BF77CDDF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C4C8C-BDFC-BD9A-8F90-C7E10EEEDE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481333-8473-A4FD-1E52-84175F51C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47A4-55D6-47CF-930A-266F8800CC9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CE120-0184-280E-4684-8110C49FB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440855-7D53-6C7F-85FA-85B1CB913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96D2-B383-42B0-A3CD-A41DCC7F4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202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F4F84-B1AA-8FDE-F368-943AF2900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AD01A-E02D-C7A2-7A4F-BD7B636A79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727E5-E622-C83D-D0A6-600868153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BD158-0484-F7D9-7AED-550805073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47A4-55D6-47CF-930A-266F8800CC9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C29A0-F42B-D7BE-889D-128CBFB75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B2BC8-9EFA-814A-AE20-23B65D064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96D2-B383-42B0-A3CD-A41DCC7F4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754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B0ACA-6796-DCDB-315F-829A051A2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2CDF7-F6AE-DBB8-4B8A-5B6D55EF4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B83CD-3E11-FD5B-74CB-AAF6CFE7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47A4-55D6-47CF-930A-266F8800CC9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7E0C7-8F79-EDFF-8CB9-5728F701C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AC14B-FA4F-DF7E-2C23-B7931214E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96D2-B383-42B0-A3CD-A41DCC7F4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444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3478D5-B042-3CAC-F143-80EE9A8A24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291532-54D1-281A-F167-356182260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32FAB-0A43-B5BE-1FA4-176E1F468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47A4-55D6-47CF-930A-266F8800CC9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734D5-6E5A-11E6-8461-12B8B58A9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382E1-DD9D-FF85-6020-CD1DACFA2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96D2-B383-42B0-A3CD-A41DCC7F4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905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948BFC-B61A-8B71-87D5-70BBF83AF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7E2FD-B6E0-A44C-E5A7-50B0AB4DD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C8745-5B66-335B-FF5B-FBEE69EC71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1447A4-55D6-47CF-930A-266F8800CC9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7DE39-CFF6-B46F-7A6A-5359C70E9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FB27E-0E6E-1317-B5C3-853071355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9C96D2-B383-42B0-A3CD-A41DCC7F4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858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uchira559" TargetMode="External"/><Relationship Id="rId2" Type="http://schemas.openxmlformats.org/officeDocument/2006/relationships/hyperlink" Target="https://www.linkedin.com/in/ruchir-a-308240128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42EB47-DBFA-2066-E885-47EA98D19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IN" sz="4400"/>
              <a:t>E-Commerce Marketplace Performance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AE002B-D656-E0A2-F60E-46D70A7303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en-IN"/>
              <a:t>Data-Driven Insights &amp; Strategic Recommendations</a:t>
            </a:r>
          </a:p>
        </p:txBody>
      </p:sp>
      <p:pic>
        <p:nvPicPr>
          <p:cNvPr id="22" name="Picture 21" descr="Financial graphs on a dark display">
            <a:extLst>
              <a:ext uri="{FF2B5EF4-FFF2-40B4-BE49-F238E27FC236}">
                <a16:creationId xmlns:a16="http://schemas.microsoft.com/office/drawing/2014/main" id="{D9A81D75-6EF8-5370-CB62-C5336D9069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25" r="25734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06531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A87881-8C09-97EC-71E4-C52279BC6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/>
              <a:t>Project Overview &amp; Data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110D2-E5E9-028D-6220-5E98C905E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Objective: To analyze 118k+ transactions to identify growth drivers and customer behavior.</a:t>
            </a:r>
          </a:p>
          <a:p>
            <a:r>
              <a:rPr lang="en-US" sz="2400"/>
              <a:t>Data Sources: 6 Relational datasets (Orders, Customers, Payments, Products, Sellers, and Items).</a:t>
            </a:r>
          </a:p>
          <a:p>
            <a:r>
              <a:rPr lang="en-US" sz="2400"/>
              <a:t>Tools Used: Python (Pandas/Seaborn), SQL, and Google Colab.</a:t>
            </a:r>
            <a:endParaRPr lang="en-IN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4647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6" name="Rectangle 2065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F15564-11B3-E001-F21B-116015989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IN" sz="3700"/>
              <a:t>Geographic Distribution</a:t>
            </a:r>
          </a:p>
        </p:txBody>
      </p:sp>
      <p:grpSp>
        <p:nvGrpSpPr>
          <p:cNvPr id="2068" name="Group 2067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069" name="Rectangle 206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0" name="Rectangle 206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97B8B-BCCD-7BE5-8058-6395C215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2000"/>
              <a:t>Market Leader: São Paulo (SP) is the dominant hub with over 41,000 customers.</a:t>
            </a:r>
          </a:p>
          <a:p>
            <a:r>
              <a:rPr lang="en-US" sz="2000"/>
              <a:t>Concentration: The top 3 states (SP, RJ, MG) account for the vast majority of total volume.</a:t>
            </a:r>
          </a:p>
          <a:p>
            <a:r>
              <a:rPr lang="en-US" sz="2000"/>
              <a:t>Niche Markets: Smaller cities show a higher average item count per order, indicating bulk-buying behavior in remote areas.</a:t>
            </a:r>
            <a:endParaRPr lang="en-IN" sz="2000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9285455-F63B-3293-2A1F-2A266E787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99" r="31196"/>
          <a:stretch>
            <a:fillRect/>
          </a:stretch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6851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69031-3E10-5191-7704-37AC757E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IN" sz="3700"/>
              <a:t>Sales Performance &amp; Growth Trends</a:t>
            </a:r>
          </a:p>
        </p:txBody>
      </p:sp>
      <p:grpSp>
        <p:nvGrpSpPr>
          <p:cNvPr id="3083" name="Group 308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3084" name="Rectangle 308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5" name="Rectangle 308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2EA-3E6A-9995-8189-A72AE7DB3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2000"/>
              <a:t>Annual Growth: Achieved a 20% YoY growth rate in 2018 (up to August) compared to 2017.</a:t>
            </a:r>
          </a:p>
          <a:p>
            <a:r>
              <a:rPr lang="en-US" sz="2000"/>
              <a:t>Seasonality: Identified a massive spike in November, likely linked to Black Friday events.</a:t>
            </a:r>
          </a:p>
          <a:p>
            <a:r>
              <a:rPr lang="en-US" sz="2000"/>
              <a:t>Scaling: 2018 revenue surpassed the entire 2017 total in just 8 months.</a:t>
            </a:r>
            <a:endParaRPr lang="en-IN" sz="2000"/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1" name="Rectangle 309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7D9BCD9-BC29-2B68-D00F-956F598DB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55" r="30573" b="2"/>
          <a:stretch>
            <a:fillRect/>
          </a:stretch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008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3E71F9-89E5-9AD6-78E2-EB2D5C578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IN" sz="3700"/>
              <a:t>Revenue Drivers (Category Analysis)</a:t>
            </a:r>
          </a:p>
        </p:txBody>
      </p:sp>
      <p:grpSp>
        <p:nvGrpSpPr>
          <p:cNvPr id="4105" name="Group 4104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4106" name="Rectangle 410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7" name="Rectangle 410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FCEF3-4B55-6C77-04AD-70096E3DA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2000"/>
              <a:t>Top Categories: Health &amp; Beauty and Watches &amp; Gifts are the highest revenue generators.</a:t>
            </a:r>
          </a:p>
          <a:p>
            <a:r>
              <a:rPr lang="en-US" sz="2000"/>
              <a:t>Concentration: The top 10 categories contribute to 62.3% of total marketplace revenue.</a:t>
            </a:r>
          </a:p>
          <a:p>
            <a:r>
              <a:rPr lang="en-US" sz="2000"/>
              <a:t>Insight: High-value items (Watches) drive revenue even with lower order frequency than home essentials.</a:t>
            </a:r>
            <a:endParaRPr lang="en-IN" sz="2000"/>
          </a:p>
        </p:txBody>
      </p: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3" name="Rectangle 411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3200C2B-A204-C43D-FE0D-F97A4F2FD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87" r="32908"/>
          <a:stretch>
            <a:fillRect/>
          </a:stretch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0382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544C44-9161-DFBC-B90A-D51CB0A7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IN" sz="3700"/>
              <a:t>Financial &amp; Payment Insights</a:t>
            </a:r>
          </a:p>
        </p:txBody>
      </p:sp>
      <p:grpSp>
        <p:nvGrpSpPr>
          <p:cNvPr id="5129" name="Group 5128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5130" name="Rectangle 512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1" name="Rectangle 513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56DD3-B737-FAF3-7964-345C51FD0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2000"/>
              <a:t>Payment Preference: 51.5% of orders are paid via installments.</a:t>
            </a:r>
          </a:p>
          <a:p>
            <a:r>
              <a:rPr lang="en-US" sz="2000"/>
              <a:t>Credit Dependency: The ability to split payments is a critical driver for high-ticket item conversion.</a:t>
            </a:r>
          </a:p>
          <a:p>
            <a:r>
              <a:rPr lang="en-US" sz="2000"/>
              <a:t>Average Value: Credit card transactions consistently represent the highest order values compared to Boleto or Debit.</a:t>
            </a:r>
            <a:endParaRPr lang="en-IN" sz="2000"/>
          </a:p>
        </p:txBody>
      </p:sp>
      <p:sp>
        <p:nvSpPr>
          <p:cNvPr id="5135" name="Rectangle 5134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7" name="Rectangle 513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1E11B93-21AA-660E-EA02-7379E8DC1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6211"/>
          <a:stretch>
            <a:fillRect/>
          </a:stretch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4924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587C2-AE6F-79B5-CAFC-711F2BB2E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IN" sz="3700"/>
              <a:t>Customer Behavior &amp; Retention</a:t>
            </a:r>
          </a:p>
        </p:txBody>
      </p:sp>
      <p:grpSp>
        <p:nvGrpSpPr>
          <p:cNvPr id="7177" name="Group 7176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7178" name="Rectangle 717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79" name="Rectangle 717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81" name="Rectangle 7180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824F0-C1AA-5FD8-C8E2-472BB4C9B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2000"/>
              <a:t>Retention Rate: Currently at 1.67% (repeat purchase within 6 months).</a:t>
            </a:r>
          </a:p>
          <a:p>
            <a:r>
              <a:rPr lang="en-US" sz="2000"/>
              <a:t>Analysis: The platform acts as a "Discovery Engine"—excellent at acquiring new users but needing better re-engagement strategies.</a:t>
            </a:r>
          </a:p>
          <a:p>
            <a:r>
              <a:rPr lang="en-US" sz="2000"/>
              <a:t>LTV: A small segment of "Power Users" contributes significantly to annual spending.</a:t>
            </a:r>
          </a:p>
          <a:p>
            <a:pPr marL="0" indent="0">
              <a:buNone/>
            </a:pPr>
            <a:endParaRPr lang="en-US" sz="2000"/>
          </a:p>
          <a:p>
            <a:endParaRPr lang="en-IN" sz="2000"/>
          </a:p>
        </p:txBody>
      </p:sp>
      <p:sp>
        <p:nvSpPr>
          <p:cNvPr id="7183" name="Rectangle 7182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5" name="Rectangle 718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C5208A-5EBA-CD95-09A2-3A11B3E24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3549"/>
          <a:stretch>
            <a:fillRect/>
          </a:stretch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5007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44E90A-07B1-20E1-E8D1-B77456594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IN" sz="4000"/>
              <a:t>Seller Performance</a:t>
            </a:r>
          </a:p>
        </p:txBody>
      </p:sp>
      <p:grpSp>
        <p:nvGrpSpPr>
          <p:cNvPr id="6153" name="Group 615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6154" name="Rectangle 615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55" name="Rectangle 615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57" name="Rectangle 615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E4AC-FBE9-2586-6DB5-1A9111A73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2000"/>
              <a:t>Merchant Landscape: Highly competitive top tier; the top 10 sellers are closely ranked by revenue.</a:t>
            </a:r>
          </a:p>
          <a:p>
            <a:r>
              <a:rPr lang="en-US" sz="2000"/>
              <a:t>Leader: Top seller generated over $229k in the analyzed period.</a:t>
            </a:r>
          </a:p>
          <a:p>
            <a:r>
              <a:rPr lang="en-US" sz="2000"/>
              <a:t>Opportunity: High correlation between seller diversity and category dominance in Health/Beauty.</a:t>
            </a:r>
            <a:endParaRPr lang="en-IN" sz="2000"/>
          </a:p>
        </p:txBody>
      </p:sp>
      <p:sp>
        <p:nvSpPr>
          <p:cNvPr id="6159" name="Rectangle 615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61" name="Rectangle 616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BF2DF76-22E3-C44A-44FC-90499ACC3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17" r="12610" b="2"/>
          <a:stretch>
            <a:fillRect/>
          </a:stretch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4865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ED03B3-582E-0A6E-3A89-D6BEE4883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/>
              <a:t>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FE7C5-DFE9-86A1-021E-EDC44F598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Retention: Launch a Loyalty Program targeting high-frequency categories like Health &amp; Beauty.</a:t>
            </a:r>
          </a:p>
          <a:p>
            <a:r>
              <a:rPr lang="en-US" sz="2400"/>
              <a:t>Logistics: Implement "Next-Day Delivery" for São Paulo to defend market share.</a:t>
            </a:r>
          </a:p>
          <a:p>
            <a:r>
              <a:rPr lang="en-US" sz="2400"/>
              <a:t>Marketing: Scale ad spend 4 weeks prior to the November peak to capitalize on established seasonality.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009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A88FEC-5550-D657-AB25-39DDB2EFD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4BFC1-DE2F-2375-6AA3-2203D0C36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The marketplace is in a high-growth phase with a strong urban foundation.</a:t>
            </a:r>
            <a:endParaRPr lang="en-IN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7382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AF7D89-7782-6097-F45D-0AD54C573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Thank You</a:t>
            </a:r>
            <a:endParaRPr lang="en-I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AE9E9-DC98-ABFC-B2E7-DFF71885D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IN" sz="2400"/>
              <a:t>LinkedIn: </a:t>
            </a:r>
            <a:r>
              <a:rPr lang="en-IN" sz="2400">
                <a:hlinkClick r:id="rId2"/>
              </a:rPr>
              <a:t>https://www.linkedin.com/in/ruchir-a-308240128/</a:t>
            </a:r>
            <a:endParaRPr lang="en-IN" sz="2400"/>
          </a:p>
          <a:p>
            <a:r>
              <a:rPr lang="en-IN" sz="2400"/>
              <a:t>GitHub: </a:t>
            </a:r>
            <a:r>
              <a:rPr lang="en-IN" sz="2400">
                <a:hlinkClick r:id="rId3"/>
              </a:rPr>
              <a:t>https://github.com/ruchira559</a:t>
            </a:r>
            <a:endParaRPr lang="en-IN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896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480</Words>
  <Application>Microsoft Office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E-Commerce Marketplace Performance Analysis</vt:lpstr>
      <vt:lpstr>Project Overview &amp; Data Scope</vt:lpstr>
      <vt:lpstr>Geographic Distribution</vt:lpstr>
      <vt:lpstr>Sales Performance &amp; Growth Trends</vt:lpstr>
      <vt:lpstr>Revenue Drivers (Category Analysis)</vt:lpstr>
      <vt:lpstr>Financial &amp; Payment Insights</vt:lpstr>
      <vt:lpstr>Customer Behavior &amp; Retention</vt:lpstr>
      <vt:lpstr>Seller Performance</vt:lpstr>
      <vt:lpstr>Strategic 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Ruchir Agrawal</dc:creator>
  <cp:lastModifiedBy>Ruchir Agrawal</cp:lastModifiedBy>
  <cp:revision>1</cp:revision>
  <dcterms:created xsi:type="dcterms:W3CDTF">2026-03-11T12:21:30Z</dcterms:created>
  <dcterms:modified xsi:type="dcterms:W3CDTF">2026-03-11T12:38:21Z</dcterms:modified>
</cp:coreProperties>
</file>
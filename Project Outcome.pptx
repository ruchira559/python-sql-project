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B1690B9-37BE-4B5A-8A50-C16EBA5B05E1}">
          <p14:sldIdLst>
            <p14:sldId id="256"/>
            <p14:sldId id="257"/>
          </p14:sldIdLst>
        </p14:section>
        <p14:section name="Basic Question" id="{6EE54D32-F878-4320-B6B0-AF015AC62264}">
          <p14:sldIdLst>
            <p14:sldId id="267"/>
            <p14:sldId id="268"/>
            <p14:sldId id="269"/>
            <p14:sldId id="270"/>
            <p14:sldId id="271"/>
          </p14:sldIdLst>
        </p14:section>
        <p14:section name="Intermediate Question" id="{A559A233-3C1B-4A6F-92E6-5DDD2E3BB078}">
          <p14:sldIdLst>
            <p14:sldId id="272"/>
            <p14:sldId id="273"/>
            <p14:sldId id="274"/>
            <p14:sldId id="275"/>
            <p14:sldId id="276"/>
          </p14:sldIdLst>
        </p14:section>
        <p14:section name="Advance Questions" id="{DF9E3505-D7F3-4B89-8B5F-71BC3A983B2A}">
          <p14:sldIdLst>
            <p14:sldId id="277"/>
            <p14:sldId id="278"/>
            <p14:sldId id="279"/>
            <p14:sldId id="280"/>
            <p14:sldId id="281"/>
          </p14:sldIdLst>
        </p14:section>
        <p14:section name="Thank You" id="{116287B1-4B5C-4B72-A87F-2CF03983DF8F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EFBA-085B-2BB8-136C-61BD5F94D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6793A-A95C-C984-57F7-4B717F13F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528D-E361-35F6-FE08-911FF36D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6EEBE-5A35-99E7-0E3F-28D3AD1E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8F44-4152-B478-6C66-269080D2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6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B130-21F4-26DF-59D5-DFFE7441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F68F-66E3-F9C7-9D30-1F0C1B9EC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42EFA-4D9B-1DD7-BD25-DE8FB2EE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68A4-D79F-5977-E644-31592913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28C9A-B2D1-B67B-6E00-D8B6CA5E0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43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8354-DAD2-292D-2BAD-F4AB8D6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41851-29DF-E181-CC8D-3FE202DF8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94AFA-E35D-1917-1DD0-B84FE13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725C5-E999-F282-596A-FE2A28E1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6327-CBF3-DB0C-EA5C-C043696F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1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3439-C990-FAAF-0683-466987DF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CF52-1B8A-821A-8A9C-DA3E0D23C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806A8-AD62-741C-24FF-D0A99D3B2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D2C8-2565-052C-DFF2-294C93AE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824A5-1933-71F4-CB8C-3D060C42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69E99-67FD-580D-EC0D-01ED4EAC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864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A14B3-499C-69A5-20EE-E9F6E972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D11D4-188C-ECE1-573B-44583CCD5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5C27A-C982-1E54-02E6-5AA1AF068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BD1D4-92B0-A446-13C1-47A660488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87F6A-4F63-9112-A3A7-00C167B14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44E14-3748-4A07-F8F8-7483D9D5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26E10-26A7-A024-240D-FD7ABD1C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5420B-16F4-4DC8-8FFB-D4B79178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9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D111-9989-4272-BAD1-65AB517DE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6E0C3-A9C6-F68B-7C22-ECF335F3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2FB21-8AE9-9976-B244-D4610E4AD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1D52C-F00D-2AF6-3B6A-804E4F79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1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CCFF2-67CF-8ABA-4721-561BAADB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5ED27-B560-EB68-DF60-C9F8CA7D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A6EF1-973C-EB73-3B36-7D28F400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4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0698-3111-164C-8EA1-701C8220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9113-CF03-038C-99C0-9BF77CDD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C4C8C-BDFC-BD9A-8F90-C7E10EEED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81333-8473-A4FD-1E52-84175F51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CE120-0184-280E-4684-8110C49F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40855-7D53-6C7F-85FA-85B1CB91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0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4F84-B1AA-8FDE-F368-943AF290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AD01A-E02D-C7A2-7A4F-BD7B636A7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727E5-E622-C83D-D0A6-600868153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BD158-0484-F7D9-7AED-55080507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C29A0-F42B-D7BE-889D-128CBFB7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B2BC8-9EFA-814A-AE20-23B65D06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54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0ACA-6796-DCDB-315F-829A051A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2CDF7-F6AE-DBB8-4B8A-5B6D55EF4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B83CD-3E11-FD5B-74CB-AAF6CFE7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7E0C7-8F79-EDFF-8CB9-5728F701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AC14B-FA4F-DF7E-2C23-B7931214E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44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478D5-B042-3CAC-F143-80EE9A8A2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91532-54D1-281A-F167-356182260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2FAB-0A43-B5BE-1FA4-176E1F46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734D5-6E5A-11E6-8461-12B8B58A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382E1-DD9D-FF85-6020-CD1DACFA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0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48BFC-B61A-8B71-87D5-70BBF83A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7E2FD-B6E0-A44C-E5A7-50B0AB4DD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8745-5B66-335B-FF5B-FBEE69EC7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447A4-55D6-47CF-930A-266F8800CC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7DE39-CFF6-B46F-7A6A-5359C70E9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FB27E-0E6E-1317-B5C3-853071355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C96D2-B383-42B0-A3CD-A41DCC7F4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85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chira559" TargetMode="External"/><Relationship Id="rId2" Type="http://schemas.openxmlformats.org/officeDocument/2006/relationships/hyperlink" Target="https://www.linkedin.com/in/ruchir-a-308240128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2EB47-DBFA-2066-E885-47EA98D19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IN" sz="4400"/>
              <a:t>E-Commerce Marketplace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E002B-D656-E0A2-F60E-46D70A730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IN"/>
              <a:t>Data-Driven Insights &amp; Strategic Recommendations</a:t>
            </a:r>
          </a:p>
        </p:txBody>
      </p:sp>
      <p:pic>
        <p:nvPicPr>
          <p:cNvPr id="22" name="Picture 21" descr="Financial graphs on a dark display">
            <a:extLst>
              <a:ext uri="{FF2B5EF4-FFF2-40B4-BE49-F238E27FC236}">
                <a16:creationId xmlns:a16="http://schemas.microsoft.com/office/drawing/2014/main" id="{D9A81D75-6EF8-5370-CB62-C5336D90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25" r="25734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0653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87881-8C09-97EC-71E4-C52279BC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Project Overview &amp; Data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110D2-E5E9-028D-6220-5E98C905E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Objective: To analyze 118k+ transactions to identify growth drivers and customer behavior.</a:t>
            </a:r>
          </a:p>
          <a:p>
            <a:r>
              <a:rPr lang="en-US" sz="2400"/>
              <a:t>Data Sources: 6 Relational datasets (Orders, Customers, Payments, Products, Sellers, and Items).</a:t>
            </a:r>
          </a:p>
          <a:p>
            <a:r>
              <a:rPr lang="en-US" sz="2400"/>
              <a:t>Tools Used: Python (Pandas/Seaborn), SQL, and Google Colab.</a:t>
            </a:r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64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A875-8D5A-5083-3AAC-277A5C4F7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List all unique cities where customers are located.</a:t>
            </a:r>
            <a:endParaRPr lang="en-IN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CD863D-7509-C63B-2FD8-63BFEC3C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98742"/>
              </p:ext>
            </p:extLst>
          </p:nvPr>
        </p:nvGraphicFramePr>
        <p:xfrm>
          <a:off x="320040" y="1428707"/>
          <a:ext cx="11512296" cy="1833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unique_cities_series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customers['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customer_city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'].unique()</a:t>
                      </a:r>
                    </a:p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unique_cities_df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pd.DataFrame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unique_cities_series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columns=['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customer_city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</a:t>
                      </a:r>
                    </a:p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unique_cities_df.to_string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(index=False))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distinct(</a:t>
                      </a:r>
                      <a:r>
                        <a:rPr lang="en-US" dirty="0" err="1"/>
                        <a:t>customer_city</a:t>
                      </a:r>
                      <a:r>
                        <a:rPr lang="en-US" dirty="0"/>
                        <a:t>) from customers;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3693B6-78C8-F47D-CE69-61635FCEF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725155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24B4E672-1278-9530-B07D-B36638D9E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502" y="4069464"/>
            <a:ext cx="2219635" cy="25625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13D89D-2E9B-F250-398F-E1F48FAD3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331" y="4069464"/>
            <a:ext cx="1867161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1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3F481-8C58-D177-5A00-9CF34395A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F334-2F60-98A3-819B-DCF1E961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Count the number of orders placed in 2017.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AA3462-346B-B365-7562-659AF4079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043487"/>
              </p:ext>
            </p:extLst>
          </p:nvPr>
        </p:nvGraphicFramePr>
        <p:xfrm>
          <a:off x="320040" y="1428707"/>
          <a:ext cx="11512296" cy="2443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Filter orders for the year 2017</a:t>
                      </a:r>
                    </a:p>
                    <a:p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orders['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pd.to_datetime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(orders['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</a:t>
                      </a:r>
                    </a:p>
                    <a:p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orders_2017 = orders[orders['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dt.year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== 2017].copy()</a:t>
                      </a:r>
                    </a:p>
                    <a:p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f"Total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Orders Placed in 2017: {</a:t>
                      </a:r>
                      <a:r>
                        <a:rPr lang="en-IN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(orders_2017)}")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count(*) as orders_2017 from orders where year(</a:t>
                      </a:r>
                      <a:r>
                        <a:rPr lang="en-US" dirty="0" err="1"/>
                        <a:t>order_purchase_timestamp</a:t>
                      </a:r>
                      <a:r>
                        <a:rPr lang="en-US" dirty="0"/>
                        <a:t>) = 2017;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2A309F-DEA2-7FC3-9E0D-2E180D60A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732980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1E22EC3-1C2B-67C2-3582-E55716DD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374" y="4260307"/>
            <a:ext cx="1824122" cy="7468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18A3CB-9D90-382B-F1A6-B24F18675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47985"/>
            <a:ext cx="368668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3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24CC-D36B-F8CC-93D2-2B1555B3D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355C-8E4F-E038-8762-7F36CDBA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Find the total sales per category.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231D77-38A3-F059-03BC-D177108A7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67184"/>
              </p:ext>
            </p:extLst>
          </p:nvPr>
        </p:nvGraphicFramePr>
        <p:xfrm>
          <a:off x="320040" y="1428707"/>
          <a:ext cx="11512296" cy="210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Merge Order Items and Products</a:t>
                      </a:r>
                    </a:p>
                    <a:p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sales_data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order_items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[['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'price']], products[['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product_category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on='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how='left')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Aggregation: Sum price per category</a:t>
                      </a:r>
                    </a:p>
                    <a:p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category_sales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sales_data.groupby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product_category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')['price'].sum().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category_sales.columns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['Product Category', 'Total Sales']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Table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print("Table: Top 10 Product Categories by Total Sales Value")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display(top_10_sales)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</a:t>
                      </a:r>
                      <a:r>
                        <a:rPr lang="en-US" dirty="0" err="1"/>
                        <a:t>p.`product</a:t>
                      </a:r>
                      <a:r>
                        <a:rPr lang="en-US" dirty="0"/>
                        <a:t> category`, sum(</a:t>
                      </a:r>
                      <a:r>
                        <a:rPr lang="en-US" dirty="0" err="1"/>
                        <a:t>oi.price</a:t>
                      </a:r>
                      <a:r>
                        <a:rPr lang="en-US" dirty="0"/>
                        <a:t>) as </a:t>
                      </a:r>
                      <a:r>
                        <a:rPr lang="en-US" dirty="0" err="1"/>
                        <a:t>total_sales</a:t>
                      </a:r>
                      <a:r>
                        <a:rPr lang="en-US" dirty="0"/>
                        <a:t> from products p join </a:t>
                      </a:r>
                      <a:r>
                        <a:rPr lang="en-US" dirty="0" err="1"/>
                        <a:t>order_items</a:t>
                      </a:r>
                      <a:r>
                        <a:rPr lang="en-US" dirty="0"/>
                        <a:t> oi on </a:t>
                      </a:r>
                      <a:r>
                        <a:rPr lang="en-US" dirty="0" err="1"/>
                        <a:t>p.product_id</a:t>
                      </a:r>
                      <a:r>
                        <a:rPr lang="en-US" dirty="0"/>
                        <a:t>=</a:t>
                      </a:r>
                      <a:r>
                        <a:rPr lang="en-US" dirty="0" err="1"/>
                        <a:t>oi.product_id</a:t>
                      </a:r>
                      <a:r>
                        <a:rPr lang="en-US" dirty="0"/>
                        <a:t> group by </a:t>
                      </a:r>
                      <a:r>
                        <a:rPr lang="en-US" dirty="0" err="1"/>
                        <a:t>p.`product</a:t>
                      </a:r>
                      <a:r>
                        <a:rPr lang="en-US" dirty="0"/>
                        <a:t> category` order by </a:t>
                      </a:r>
                      <a:r>
                        <a:rPr lang="en-US" dirty="0" err="1"/>
                        <a:t>total_sales</a:t>
                      </a:r>
                      <a:r>
                        <a:rPr lang="en-US" dirty="0"/>
                        <a:t> desc;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1884FA-780F-F707-66CE-002215313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165627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7DAC50B-70DA-A173-E5F2-EF3C90963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555" y="4069860"/>
            <a:ext cx="3143689" cy="2467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D88291-435A-4B08-E58E-ECA7ED79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01" y="4069860"/>
            <a:ext cx="2252871" cy="265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7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C630F-A72B-84AD-1E0F-CCAD1363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385B-EA54-CD84-EF5D-C50DAFF92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Calculate the percentage of orders that were paid in instalments.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06BB2C-CD20-7827-A9F4-0E0DC54AF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457550"/>
              </p:ext>
            </p:extLst>
          </p:nvPr>
        </p:nvGraphicFramePr>
        <p:xfrm>
          <a:off x="320040" y="1428707"/>
          <a:ext cx="11512296" cy="2169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Count total unique orders</a:t>
                      </a:r>
                    </a:p>
                    <a:p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total_orders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payments['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nunique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Count unique orders that used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installments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(more than 1 payment)</a:t>
                      </a:r>
                    </a:p>
                    <a:p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installment_orders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payments[payments['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payment_installments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&gt; 1]['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nunique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Calculate percentage</a:t>
                      </a:r>
                    </a:p>
                    <a:p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percentage = (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installment_orders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total_orders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* 100</a:t>
                      </a:r>
                    </a:p>
                    <a:p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f"Percentage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orders paid in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installments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{percentage:.2f}%")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    (COUNT(DISTINCT CASE WHEN </a:t>
                      </a:r>
                      <a:r>
                        <a:rPr lang="en-US" dirty="0" err="1"/>
                        <a:t>payment_installments</a:t>
                      </a:r>
                      <a:r>
                        <a:rPr lang="en-US" dirty="0"/>
                        <a:t> &gt; 1 THEN </a:t>
                      </a:r>
                      <a:r>
                        <a:rPr lang="en-US" dirty="0" err="1"/>
                        <a:t>order_id</a:t>
                      </a:r>
                      <a:r>
                        <a:rPr lang="en-US" dirty="0"/>
                        <a:t> END) * 100.0) /     COUNT(DISTINCT </a:t>
                      </a:r>
                      <a:r>
                        <a:rPr lang="en-US" dirty="0" err="1"/>
                        <a:t>order_id</a:t>
                      </a:r>
                      <a:r>
                        <a:rPr lang="en-US" dirty="0"/>
                        <a:t>) AS </a:t>
                      </a:r>
                      <a:r>
                        <a:rPr lang="en-US" dirty="0" err="1"/>
                        <a:t>installment_percentage</a:t>
                      </a:r>
                      <a:r>
                        <a:rPr lang="en-US" dirty="0"/>
                        <a:t> FROM payments;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31DA65-C1F5-DF10-EC8A-09C0458EC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165627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8D19DE4-E098-A613-9BD3-0643A5C8B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984" y="4295416"/>
            <a:ext cx="3812954" cy="9532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C4D64C-4556-DAC7-F0DB-532EB9170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94" y="4387766"/>
            <a:ext cx="4677428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2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FAD4-1069-2FD7-78DB-C9CE4A1B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A1F50-5258-405E-6BA3-48683558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Count the number of customers from each state.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6D7FF2-7F1E-0DA4-9AC0-17395F37C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929001"/>
              </p:ext>
            </p:extLst>
          </p:nvPr>
        </p:nvGraphicFramePr>
        <p:xfrm>
          <a:off x="320040" y="1428707"/>
          <a:ext cx="11512296" cy="2169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Count customers per state</a:t>
                      </a:r>
                    </a:p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state_counts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customers['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customer_state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value_counts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state_counts.columns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['State', 'Customer Count']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Table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print("Table: Number of Customers by State")</a:t>
                      </a:r>
                    </a:p>
                    <a:p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</a:t>
                      </a:r>
                      <a:r>
                        <a:rPr lang="en-US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state_counts</a:t>
                      </a:r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</a:t>
                      </a:r>
                      <a:r>
                        <a:rPr lang="en-US" dirty="0" err="1"/>
                        <a:t>customer_state</a:t>
                      </a:r>
                      <a:r>
                        <a:rPr lang="en-US" dirty="0"/>
                        <a:t>, count(*) as </a:t>
                      </a:r>
                      <a:r>
                        <a:rPr lang="en-US" dirty="0" err="1"/>
                        <a:t>number_of_customers</a:t>
                      </a:r>
                      <a:r>
                        <a:rPr lang="en-US" dirty="0"/>
                        <a:t> from customers group by </a:t>
                      </a:r>
                      <a:r>
                        <a:rPr lang="en-US" dirty="0" err="1"/>
                        <a:t>customer_state</a:t>
                      </a:r>
                      <a:r>
                        <a:rPr lang="en-US" dirty="0"/>
                        <a:t>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7E7AA0-C5BC-B808-355A-33D0FA844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165627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E164C33-1BFA-7AE4-1125-F54A0805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945" y="4055953"/>
            <a:ext cx="2838846" cy="2476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1F9A72-07F7-600D-F9A0-51E4E9A2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842" y="4055953"/>
            <a:ext cx="1532342" cy="265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5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D993-10D4-A971-F2BF-5AC36082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61F4-280C-43EE-D962-41511246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Calculate the number of orders per month in 2018.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FB55BA-F3EA-F629-AF1C-04BEBCB22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221300"/>
              </p:ext>
            </p:extLst>
          </p:nvPr>
        </p:nvGraphicFramePr>
        <p:xfrm>
          <a:off x="320040" y="1428707"/>
          <a:ext cx="11512296" cy="210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orders_2018 = orders[orders['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dt.year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== 2018].copy()</a:t>
                      </a:r>
                    </a:p>
                    <a:p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orders_2018['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month_num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orders_2018['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dt.month</a:t>
                      </a:r>
                      <a:endParaRPr lang="en-IN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orders_2018['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month_name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orders_2018['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dt.strftime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('%B')</a:t>
                      </a:r>
                    </a:p>
                    <a:p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monthly_orders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orders_2018.groupby(['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month_num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month_name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']).size().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(name='Total Orders')</a:t>
                      </a:r>
                    </a:p>
                    <a:p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monthly_orders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monthly_orders.sort_values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month_num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month_name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'Total Orders']]</a:t>
                      </a:r>
                    </a:p>
                    <a:p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monthly_orders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</a:t>
                      </a:r>
                      <a:r>
                        <a:rPr lang="en-US" dirty="0" err="1"/>
                        <a:t>monthname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order_purchase_timestamp</a:t>
                      </a:r>
                      <a:r>
                        <a:rPr lang="en-US" dirty="0"/>
                        <a:t>) as </a:t>
                      </a:r>
                      <a:r>
                        <a:rPr lang="en-US" dirty="0" err="1"/>
                        <a:t>month_name</a:t>
                      </a:r>
                      <a:r>
                        <a:rPr lang="en-US" dirty="0"/>
                        <a:t>, count(*) as </a:t>
                      </a:r>
                      <a:r>
                        <a:rPr lang="en-US" dirty="0" err="1"/>
                        <a:t>order_count</a:t>
                      </a:r>
                      <a:r>
                        <a:rPr lang="en-US" dirty="0"/>
                        <a:t> from orders where year(</a:t>
                      </a:r>
                      <a:r>
                        <a:rPr lang="en-US" dirty="0" err="1"/>
                        <a:t>order_purchase_timestamp</a:t>
                      </a:r>
                      <a:r>
                        <a:rPr lang="en-US" dirty="0"/>
                        <a:t>)=2018 group by </a:t>
                      </a:r>
                      <a:r>
                        <a:rPr lang="en-US" dirty="0" err="1"/>
                        <a:t>month_name</a:t>
                      </a:r>
                      <a:r>
                        <a:rPr lang="en-US" dirty="0"/>
                        <a:t>, month(</a:t>
                      </a:r>
                      <a:r>
                        <a:rPr lang="en-US" dirty="0" err="1"/>
                        <a:t>order_purchase_timestamp</a:t>
                      </a:r>
                      <a:r>
                        <a:rPr lang="en-US" dirty="0"/>
                        <a:t>) order by month(</a:t>
                      </a:r>
                      <a:r>
                        <a:rPr lang="en-US" dirty="0" err="1"/>
                        <a:t>order_purchase_timestamp</a:t>
                      </a:r>
                      <a:r>
                        <a:rPr lang="en-US" dirty="0"/>
                        <a:t>);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F7A522-19ED-EAC6-C341-23D38734C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165627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D3809E6-95B4-65A8-A2FD-EDDE90BA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360" y="4051397"/>
            <a:ext cx="2095792" cy="22482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E62AAD-3FF7-D16B-4FF4-F97E7117F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569" y="3964422"/>
            <a:ext cx="1695774" cy="285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2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26D47-471A-EBE5-4753-22C2FAA9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E16E-E83D-2A5B-29E0-C908E403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Find the average number of products per order, grouped by customer city.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C18933-84A4-DFF8-9340-8693785D4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24605"/>
              </p:ext>
            </p:extLst>
          </p:nvPr>
        </p:nvGraphicFramePr>
        <p:xfrm>
          <a:off x="320040" y="1428707"/>
          <a:ext cx="11512296" cy="230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items_per_order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order_items.groupby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').size().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(name='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product_count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order_mapping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items_per_order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orders[['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on='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order_city_data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order_mapping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customers[['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customer_city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on='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city_avg_stats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order_city_data.groupby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customer_city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product_count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'].mean().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city_avg_stats.columns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['City', 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Products per Order']</a:t>
                      </a:r>
                    </a:p>
                    <a:p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top_10_cities_avg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city_avg_stats.sort_values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(by='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Products per Order', ascending=False).head(10)</a:t>
                      </a:r>
                    </a:p>
                    <a:p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display(top_10_cities_avg)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select </a:t>
                      </a:r>
                      <a:r>
                        <a:rPr lang="en-IN" sz="1600" dirty="0" err="1"/>
                        <a:t>customer_city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avg</a:t>
                      </a:r>
                      <a:r>
                        <a:rPr lang="en-IN" sz="1600" dirty="0"/>
                        <a:t>(</a:t>
                      </a:r>
                      <a:r>
                        <a:rPr lang="en-IN" sz="1600" dirty="0" err="1"/>
                        <a:t>items_per_order</a:t>
                      </a:r>
                      <a:r>
                        <a:rPr lang="en-IN" sz="1600" dirty="0"/>
                        <a:t>) as </a:t>
                      </a:r>
                      <a:r>
                        <a:rPr lang="en-IN" sz="1600" dirty="0" err="1"/>
                        <a:t>average_productsfrom</a:t>
                      </a:r>
                      <a:r>
                        <a:rPr lang="en-IN" sz="1600" dirty="0"/>
                        <a:t> (select </a:t>
                      </a:r>
                      <a:r>
                        <a:rPr lang="en-IN" sz="1600" dirty="0" err="1"/>
                        <a:t>c.customer_city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o.order_id</a:t>
                      </a:r>
                      <a:r>
                        <a:rPr lang="en-IN" sz="1600" dirty="0"/>
                        <a:t>, count(</a:t>
                      </a:r>
                      <a:r>
                        <a:rPr lang="en-IN" sz="1600" dirty="0" err="1"/>
                        <a:t>oi.product_id</a:t>
                      </a:r>
                      <a:r>
                        <a:rPr lang="en-IN" sz="1600" dirty="0"/>
                        <a:t>) as </a:t>
                      </a:r>
                      <a:r>
                        <a:rPr lang="en-IN" sz="1600" dirty="0" err="1"/>
                        <a:t>items_per_orderfrom</a:t>
                      </a:r>
                      <a:r>
                        <a:rPr lang="en-IN" sz="1600" dirty="0"/>
                        <a:t> customers </a:t>
                      </a:r>
                      <a:r>
                        <a:rPr lang="en-IN" sz="1600" dirty="0" err="1"/>
                        <a:t>cjoin</a:t>
                      </a:r>
                      <a:r>
                        <a:rPr lang="en-IN" sz="1600" dirty="0"/>
                        <a:t> orders o on </a:t>
                      </a:r>
                      <a:r>
                        <a:rPr lang="en-IN" sz="1600" dirty="0" err="1"/>
                        <a:t>c.customer_id</a:t>
                      </a:r>
                      <a:r>
                        <a:rPr lang="en-IN" sz="1600" dirty="0"/>
                        <a:t> = </a:t>
                      </a:r>
                      <a:r>
                        <a:rPr lang="en-IN" sz="1600" dirty="0" err="1"/>
                        <a:t>o.customer_idjoin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order_items</a:t>
                      </a:r>
                      <a:r>
                        <a:rPr lang="en-IN" sz="1600" dirty="0"/>
                        <a:t> oi on </a:t>
                      </a:r>
                      <a:r>
                        <a:rPr lang="en-IN" sz="1600" dirty="0" err="1"/>
                        <a:t>o.order_id</a:t>
                      </a:r>
                      <a:r>
                        <a:rPr lang="en-IN" sz="1600" dirty="0"/>
                        <a:t> = </a:t>
                      </a:r>
                      <a:r>
                        <a:rPr lang="en-IN" sz="1600" dirty="0" err="1"/>
                        <a:t>oi.order_idgroup</a:t>
                      </a:r>
                      <a:r>
                        <a:rPr lang="en-IN" sz="1600" dirty="0"/>
                        <a:t> by </a:t>
                      </a:r>
                      <a:r>
                        <a:rPr lang="en-IN" sz="1600" dirty="0" err="1"/>
                        <a:t>c.customer_city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o.order_id</a:t>
                      </a:r>
                      <a:r>
                        <a:rPr lang="en-IN" sz="1600" dirty="0"/>
                        <a:t>)as </a:t>
                      </a:r>
                      <a:r>
                        <a:rPr lang="en-IN" sz="1600" dirty="0" err="1"/>
                        <a:t>order_counts</a:t>
                      </a:r>
                      <a:r>
                        <a:rPr lang="en-IN" sz="1600" dirty="0"/>
                        <a:t> group by </a:t>
                      </a:r>
                      <a:r>
                        <a:rPr lang="en-IN" sz="1600" dirty="0" err="1"/>
                        <a:t>customer_city</a:t>
                      </a:r>
                      <a:r>
                        <a:rPr lang="en-IN" sz="1600" dirty="0"/>
                        <a:t> order by </a:t>
                      </a:r>
                      <a:r>
                        <a:rPr lang="en-IN" sz="1600" dirty="0" err="1"/>
                        <a:t>average_products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desc</a:t>
                      </a:r>
                      <a:r>
                        <a:rPr lang="en-IN" sz="1600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41704A-AA09-EC6A-603D-DDB33D512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52198"/>
              </p:ext>
            </p:extLst>
          </p:nvPr>
        </p:nvGraphicFramePr>
        <p:xfrm>
          <a:off x="320040" y="3694166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BAE79E6-5BCF-81AC-E937-C2BB2D26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180" y="4151981"/>
            <a:ext cx="2829320" cy="2248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70985F-0D05-A1A9-C9D9-C04E0292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916" y="4061608"/>
            <a:ext cx="3101643" cy="273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162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C558-4051-10D4-49E0-C426D3F9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06BB-0C1E-C7D9-4F1D-B77F9F22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Calculate the percentage of total revenue contributed by each product category.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ABEE8A-C332-1F6B-744B-5CC9A865D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569018"/>
              </p:ext>
            </p:extLst>
          </p:nvPr>
        </p:nvGraphicFramePr>
        <p:xfrm>
          <a:off x="320040" y="1428707"/>
          <a:ext cx="11512296" cy="2108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revenue_df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order_items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'price']], products[['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product_category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’]], on='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how='left')</a:t>
                      </a:r>
                    </a:p>
                    <a:p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total_marketplace_revenue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revenue_df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['price'].sum()</a:t>
                      </a:r>
                    </a:p>
                    <a:p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category_contribution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revenue_df.groupby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product_category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')['price'].sum().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category_contribution.columns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['Product Category', 'Total Revenue']</a:t>
                      </a:r>
                    </a:p>
                    <a:p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category_contribution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['Percentage (%)'] = (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category_contribution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['Total Revenue'] / </a:t>
                      </a: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total_marketplace_revenue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100).round(2)</a:t>
                      </a:r>
                    </a:p>
                    <a:p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display(top_10_contribution)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</a:t>
                      </a:r>
                      <a:r>
                        <a:rPr lang="en-US" dirty="0" err="1"/>
                        <a:t>p.`product</a:t>
                      </a:r>
                      <a:r>
                        <a:rPr lang="en-US" dirty="0"/>
                        <a:t> category` as </a:t>
                      </a:r>
                      <a:r>
                        <a:rPr lang="en-US" dirty="0" err="1"/>
                        <a:t>product_category</a:t>
                      </a:r>
                      <a:r>
                        <a:rPr lang="en-US" dirty="0"/>
                        <a:t>, sum(</a:t>
                      </a:r>
                      <a:r>
                        <a:rPr lang="en-US" dirty="0" err="1"/>
                        <a:t>oi.price</a:t>
                      </a:r>
                      <a:r>
                        <a:rPr lang="en-US" dirty="0"/>
                        <a:t>) as </a:t>
                      </a:r>
                      <a:r>
                        <a:rPr lang="en-US" dirty="0" err="1"/>
                        <a:t>category_revenue</a:t>
                      </a:r>
                      <a:r>
                        <a:rPr lang="en-US" dirty="0"/>
                        <a:t>, (sum(price) / (select sum(price) from </a:t>
                      </a:r>
                      <a:r>
                        <a:rPr lang="en-US" dirty="0" err="1"/>
                        <a:t>order_items</a:t>
                      </a:r>
                      <a:r>
                        <a:rPr lang="en-US" dirty="0"/>
                        <a:t>)) * 100 as </a:t>
                      </a:r>
                      <a:r>
                        <a:rPr lang="en-US" dirty="0" err="1"/>
                        <a:t>revenue_percentagefrom</a:t>
                      </a:r>
                      <a:r>
                        <a:rPr lang="en-US" dirty="0"/>
                        <a:t> products </a:t>
                      </a:r>
                      <a:r>
                        <a:rPr lang="en-US" dirty="0" err="1"/>
                        <a:t>pjoin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order_items</a:t>
                      </a:r>
                      <a:r>
                        <a:rPr lang="en-US" dirty="0"/>
                        <a:t> oi on </a:t>
                      </a:r>
                      <a:r>
                        <a:rPr lang="en-US" dirty="0" err="1"/>
                        <a:t>p.product_id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oi.product_idgroup</a:t>
                      </a:r>
                      <a:r>
                        <a:rPr lang="en-US" dirty="0"/>
                        <a:t> by </a:t>
                      </a:r>
                      <a:r>
                        <a:rPr lang="en-US" dirty="0" err="1"/>
                        <a:t>product_categoryorder</a:t>
                      </a:r>
                      <a:r>
                        <a:rPr lang="en-US" dirty="0"/>
                        <a:t> by </a:t>
                      </a:r>
                      <a:r>
                        <a:rPr lang="en-US" dirty="0" err="1"/>
                        <a:t>revenue_percentage</a:t>
                      </a:r>
                      <a:r>
                        <a:rPr lang="en-US" dirty="0"/>
                        <a:t> desc;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452659-CF56-7051-536D-B1F7C5A4C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76741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1843E09-BBFC-B1D0-B476-2DF9D5887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955" y="4111024"/>
            <a:ext cx="4639322" cy="2238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6002AB-95DC-8341-A498-4D52F18E3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23" y="4045687"/>
            <a:ext cx="3419989" cy="276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97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BDA3-1228-9E94-E731-B11D39BA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94BAA-55A5-DD26-8F41-B1B09DAF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225953"/>
            <a:ext cx="1155192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Identify the correlation between product price and the number of times a product has been purchased.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D48C20-B203-B36E-ADE5-0269EFCC1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229821"/>
              </p:ext>
            </p:extLst>
          </p:nvPr>
        </p:nvGraphicFramePr>
        <p:xfrm>
          <a:off x="320040" y="1428707"/>
          <a:ext cx="11512296" cy="2169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product_stats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order_items.groupby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product_id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').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purchase_count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=('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'count'),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avg_price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=('price', 'mean')).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correlation=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product_stats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avg_price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product_stats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purchase_count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</a:t>
                      </a:r>
                    </a:p>
                    <a:p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top_products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product_stats.sort_values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(by='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purchase_count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ascending=False).head(10)</a:t>
                      </a:r>
                    </a:p>
                    <a:p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top_products.columns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['Product ID', 'Purchase Count', 'Average Price']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top_products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</a:t>
                      </a:r>
                      <a:r>
                        <a:rPr lang="en-US" dirty="0" err="1"/>
                        <a:t>product_id</a:t>
                      </a:r>
                      <a:r>
                        <a:rPr lang="en-US" dirty="0"/>
                        <a:t>, AVG(price) AS </a:t>
                      </a:r>
                      <a:r>
                        <a:rPr lang="en-US" dirty="0" err="1"/>
                        <a:t>avg_price</a:t>
                      </a:r>
                      <a:r>
                        <a:rPr lang="en-US" dirty="0"/>
                        <a:t>, COUNT(*) AS </a:t>
                      </a:r>
                      <a:r>
                        <a:rPr lang="en-US" dirty="0" err="1"/>
                        <a:t>purchase_count</a:t>
                      </a:r>
                      <a:endParaRPr lang="en-US" dirty="0"/>
                    </a:p>
                    <a:p>
                      <a:r>
                        <a:rPr lang="en-US" dirty="0"/>
                        <a:t>FROM </a:t>
                      </a:r>
                      <a:r>
                        <a:rPr lang="en-US" dirty="0" err="1"/>
                        <a:t>order_items</a:t>
                      </a:r>
                      <a:endParaRPr lang="en-US" dirty="0"/>
                    </a:p>
                    <a:p>
                      <a:r>
                        <a:rPr lang="en-US" dirty="0"/>
                        <a:t>GROUP BY </a:t>
                      </a:r>
                      <a:r>
                        <a:rPr lang="en-US" dirty="0" err="1"/>
                        <a:t>product_id</a:t>
                      </a:r>
                      <a:endParaRPr lang="en-US" dirty="0"/>
                    </a:p>
                    <a:p>
                      <a:r>
                        <a:rPr lang="en-US" dirty="0"/>
                        <a:t>ORDER BY </a:t>
                      </a:r>
                      <a:r>
                        <a:rPr lang="en-US" dirty="0" err="1"/>
                        <a:t>purchase_count</a:t>
                      </a:r>
                      <a:r>
                        <a:rPr lang="en-US" dirty="0"/>
                        <a:t> DESC;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999D70-8AFE-0E73-5219-0CFFC88D9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76741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2EB2E16-6906-70DF-E5DA-5A356D5F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82" y="3964422"/>
            <a:ext cx="4566734" cy="28322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DE28A6-8653-E055-2B17-A8BF3C2EA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029" y="4142125"/>
            <a:ext cx="499179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98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091C-827C-08A9-E3F5-587C6AD9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4883-3A95-ADF3-5EE3-C433AC37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Calculate the total revenue generated by each seller, and rank them by revenue.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F87E2C-CFED-92CF-6A20-FAEBC0F1A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945350"/>
              </p:ext>
            </p:extLst>
          </p:nvPr>
        </p:nvGraphicFramePr>
        <p:xfrm>
          <a:off x="320040" y="1428707"/>
          <a:ext cx="11512296" cy="2230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seller_stats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order_items.groupby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seller_id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')['price'].sum().</a:t>
                      </a: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seller_stats.columns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['Seller ID', 'Total Revenue']</a:t>
                      </a:r>
                      <a:b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seller_stats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seller_stats.sort_values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(by='Total Revenue', ascending=False)</a:t>
                      </a:r>
                    </a:p>
                    <a:p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seller_stats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['Rank'] = range(1, </a:t>
                      </a: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seller_stats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+ 1)</a:t>
                      </a:r>
                    </a:p>
                    <a:p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top_10_sellers = </a:t>
                      </a:r>
                      <a:r>
                        <a:rPr lang="en-IN" sz="14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seller_stats.head</a:t>
                      </a:r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</a:t>
                      </a:r>
                    </a:p>
                    <a:p>
                      <a:r>
                        <a:rPr lang="en-IN" sz="14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display(top_10_sellers)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</a:t>
                      </a:r>
                      <a:r>
                        <a:rPr lang="en-US" dirty="0" err="1"/>
                        <a:t>seller_id</a:t>
                      </a:r>
                      <a:r>
                        <a:rPr lang="en-US" dirty="0"/>
                        <a:t>, sum(price) as </a:t>
                      </a:r>
                      <a:r>
                        <a:rPr lang="en-US" dirty="0" err="1"/>
                        <a:t>total_revenue</a:t>
                      </a:r>
                      <a:r>
                        <a:rPr lang="en-US" dirty="0"/>
                        <a:t>, rank() over (order by sum(price) desc) as </a:t>
                      </a:r>
                      <a:r>
                        <a:rPr lang="en-US" dirty="0" err="1"/>
                        <a:t>seller_rankfrom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order_itemsgroup</a:t>
                      </a:r>
                      <a:r>
                        <a:rPr lang="en-US" dirty="0"/>
                        <a:t> by </a:t>
                      </a:r>
                      <a:r>
                        <a:rPr lang="en-US" dirty="0" err="1"/>
                        <a:t>seller_idorder</a:t>
                      </a:r>
                      <a:r>
                        <a:rPr lang="en-US" dirty="0"/>
                        <a:t> by </a:t>
                      </a:r>
                      <a:r>
                        <a:rPr lang="en-US" dirty="0" err="1"/>
                        <a:t>seller_rank</a:t>
                      </a:r>
                      <a:r>
                        <a:rPr lang="en-US" dirty="0"/>
                        <a:t>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1A9969-D978-5487-26F9-998142E9D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76741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978F1E1-BB91-93C2-F0E8-130170D3F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94" y="4084583"/>
            <a:ext cx="5039428" cy="2305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0A837B-A151-46A1-EAD6-46AA76D2C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878" y="4084583"/>
            <a:ext cx="3190901" cy="252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5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92732-6FB2-DB39-7DD2-A459970A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F02D-B2BF-9FF5-0194-CF02DD4C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Calculate the moving average of order values for each customer over their order history.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7ED6-F952-9DFE-9AD4-29BA17FAE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108184"/>
              </p:ext>
            </p:extLst>
          </p:nvPr>
        </p:nvGraphicFramePr>
        <p:xfrm>
          <a:off x="320040" y="1428707"/>
          <a:ext cx="11512296" cy="2245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payments.groupby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'].sum().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(orders[['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on='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customers[['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on='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df.sort_values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(by=['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moving_avg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df.groupby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'].transform(lambda x: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x.rolling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(window=2,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min_periods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=1).mean())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moving_avg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WITH </a:t>
                      </a:r>
                      <a:r>
                        <a:rPr lang="en-IN" sz="1300" dirty="0" err="1"/>
                        <a:t>OrderTotals</a:t>
                      </a:r>
                      <a:r>
                        <a:rPr lang="en-IN" sz="1300" dirty="0"/>
                        <a:t> AS (SELECT </a:t>
                      </a:r>
                      <a:r>
                        <a:rPr lang="en-IN" sz="1300" dirty="0" err="1"/>
                        <a:t>c.customer_unique_id</a:t>
                      </a:r>
                      <a:r>
                        <a:rPr lang="en-IN" sz="1300" dirty="0"/>
                        <a:t>, </a:t>
                      </a:r>
                      <a:r>
                        <a:rPr lang="en-IN" sz="1300" dirty="0" err="1"/>
                        <a:t>o.order_purchase_timestamp</a:t>
                      </a:r>
                      <a:r>
                        <a:rPr lang="en-IN" sz="1300" dirty="0"/>
                        <a:t>, SUM(</a:t>
                      </a:r>
                      <a:r>
                        <a:rPr lang="en-IN" sz="1300" dirty="0" err="1"/>
                        <a:t>p.payment_value</a:t>
                      </a:r>
                      <a:r>
                        <a:rPr lang="en-IN" sz="1300" dirty="0"/>
                        <a:t>) as </a:t>
                      </a:r>
                      <a:r>
                        <a:rPr lang="en-IN" sz="1300" dirty="0" err="1"/>
                        <a:t>total_order_value</a:t>
                      </a:r>
                      <a:r>
                        <a:rPr lang="en-IN" sz="1300" dirty="0"/>
                        <a:t>    FROM customers c    JOIN orders o ON </a:t>
                      </a:r>
                      <a:r>
                        <a:rPr lang="en-IN" sz="1300" dirty="0" err="1"/>
                        <a:t>c.customer_id</a:t>
                      </a:r>
                      <a:r>
                        <a:rPr lang="en-IN" sz="1300" dirty="0"/>
                        <a:t> = </a:t>
                      </a:r>
                      <a:r>
                        <a:rPr lang="en-IN" sz="1300" dirty="0" err="1"/>
                        <a:t>o.customer_id</a:t>
                      </a:r>
                      <a:r>
                        <a:rPr lang="en-IN" sz="1300" dirty="0"/>
                        <a:t>    JOIN payments p ON </a:t>
                      </a:r>
                      <a:r>
                        <a:rPr lang="en-IN" sz="1300" dirty="0" err="1"/>
                        <a:t>o.order_id</a:t>
                      </a:r>
                      <a:r>
                        <a:rPr lang="en-IN" sz="1300" dirty="0"/>
                        <a:t> = </a:t>
                      </a:r>
                      <a:r>
                        <a:rPr lang="en-IN" sz="1300" dirty="0" err="1"/>
                        <a:t>p.order_id</a:t>
                      </a:r>
                      <a:r>
                        <a:rPr lang="en-IN" sz="1300" dirty="0"/>
                        <a:t>    GROUP BY </a:t>
                      </a:r>
                      <a:r>
                        <a:rPr lang="en-IN" sz="1300" dirty="0" err="1"/>
                        <a:t>c.customer_unique_id</a:t>
                      </a:r>
                      <a:r>
                        <a:rPr lang="en-IN" sz="1300" dirty="0"/>
                        <a:t>, </a:t>
                      </a:r>
                      <a:r>
                        <a:rPr lang="en-IN" sz="1300" dirty="0" err="1"/>
                        <a:t>o.order_id</a:t>
                      </a:r>
                      <a:r>
                        <a:rPr lang="en-IN" sz="1300" dirty="0"/>
                        <a:t>, </a:t>
                      </a:r>
                      <a:r>
                        <a:rPr lang="en-IN" sz="1300" dirty="0" err="1"/>
                        <a:t>o.order_purchase_timestamp</a:t>
                      </a:r>
                      <a:r>
                        <a:rPr lang="en-IN" sz="1300" dirty="0"/>
                        <a:t>)SELECT </a:t>
                      </a:r>
                      <a:r>
                        <a:rPr lang="en-IN" sz="1300" dirty="0" err="1"/>
                        <a:t>customer_unique_id</a:t>
                      </a:r>
                      <a:r>
                        <a:rPr lang="en-IN" sz="1300" dirty="0"/>
                        <a:t>, </a:t>
                      </a:r>
                      <a:r>
                        <a:rPr lang="en-IN" sz="1300" dirty="0" err="1"/>
                        <a:t>order_purchase_timestamp</a:t>
                      </a:r>
                      <a:r>
                        <a:rPr lang="en-IN" sz="1300" dirty="0"/>
                        <a:t>, </a:t>
                      </a:r>
                      <a:r>
                        <a:rPr lang="en-IN" sz="1300" dirty="0" err="1"/>
                        <a:t>total_order_value</a:t>
                      </a:r>
                      <a:r>
                        <a:rPr lang="en-IN" sz="1300" dirty="0"/>
                        <a:t>, AVG(</a:t>
                      </a:r>
                      <a:r>
                        <a:rPr lang="en-IN" sz="1300" dirty="0" err="1"/>
                        <a:t>total_order_value</a:t>
                      </a:r>
                      <a:r>
                        <a:rPr lang="en-IN" sz="1300" dirty="0"/>
                        <a:t>) OVER (        PARTITION BY </a:t>
                      </a:r>
                      <a:r>
                        <a:rPr lang="en-IN" sz="1300" dirty="0" err="1"/>
                        <a:t>customer_unique_id</a:t>
                      </a:r>
                      <a:r>
                        <a:rPr lang="en-IN" sz="1300" dirty="0"/>
                        <a:t> ORDER BY </a:t>
                      </a:r>
                      <a:r>
                        <a:rPr lang="en-IN" sz="1300" dirty="0" err="1"/>
                        <a:t>order_purchase_timestamp</a:t>
                      </a:r>
                      <a:r>
                        <a:rPr lang="en-IN" sz="1300" dirty="0"/>
                        <a:t> ROWS BETWEEN 1 PRECEDING AND CURRENT ROW    ) AS moving_avg_2_orders FROM </a:t>
                      </a:r>
                      <a:r>
                        <a:rPr lang="en-IN" sz="1300" dirty="0" err="1"/>
                        <a:t>OrderTotals</a:t>
                      </a:r>
                      <a:r>
                        <a:rPr lang="en-IN" sz="1300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92F6EE-E4AD-216B-C4E7-E37FBB81A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955530"/>
              </p:ext>
            </p:extLst>
          </p:nvPr>
        </p:nvGraphicFramePr>
        <p:xfrm>
          <a:off x="320040" y="3630158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C72FB06-33B4-D27F-80F6-D7D9FDFF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5" y="4131068"/>
            <a:ext cx="5477257" cy="2267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07E96F-7D59-E251-461D-ED018FDAD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9" y="4087572"/>
            <a:ext cx="5227320" cy="268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79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4CFF-9D5F-4F19-FF11-FD245D3F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319D-903B-3674-0626-A8AA6A69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Calculate the cumulative sales per month for each year.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059A2E-7C64-42F4-C2A9-FD653E805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77506"/>
              </p:ext>
            </p:extLst>
          </p:nvPr>
        </p:nvGraphicFramePr>
        <p:xfrm>
          <a:off x="320040" y="1428707"/>
          <a:ext cx="11512296" cy="227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order_pay_totals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payments.groupby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'].sum().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sales_history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(orders[['order_id','order_purchase_timestamp','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order_status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order_pay_totals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on='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sales_history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['year']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sales_history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dt.year</a:t>
                      </a:r>
                      <a:endParaRPr lang="en-IN" sz="8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sales_history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['month']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sales_history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dt.month</a:t>
                      </a:r>
                      <a:endParaRPr lang="en-IN" sz="8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sales_history.groupby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(['year', 'month'])['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'].sum().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monthly_totals.sort_values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(['year', 'month'])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cumulative_sales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monthly_totals.groupby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('year')['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cumsum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month_name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['month'].apply(lambda x: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calendar.month_name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[x])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ytd_table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monthly_totals.pivot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(index='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month_name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columns='year', values='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cumulative_sales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month_order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list(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calendar.month_name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)[1:]</a:t>
                      </a:r>
                    </a:p>
                    <a:p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ytd_table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ytd_table.reindex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month_order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print("Table: Year-to-Date (Cumulative) Sales per Month")</a:t>
                      </a:r>
                    </a:p>
                    <a:p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ytd_table.fillna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(0).</a:t>
                      </a:r>
                      <a:r>
                        <a:rPr lang="en-IN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astype</a:t>
                      </a:r>
                      <a:r>
                        <a:rPr lang="en-IN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(int))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with </a:t>
                      </a:r>
                      <a:r>
                        <a:rPr lang="en-US" sz="1600" dirty="0" err="1"/>
                        <a:t>monthly_sales</a:t>
                      </a:r>
                      <a:r>
                        <a:rPr lang="en-US" sz="1600" dirty="0"/>
                        <a:t> as (    select year(</a:t>
                      </a:r>
                      <a:r>
                        <a:rPr lang="en-US" sz="1600" dirty="0" err="1"/>
                        <a:t>order_purchase_timestamp</a:t>
                      </a:r>
                      <a:r>
                        <a:rPr lang="en-US" sz="1600" dirty="0"/>
                        <a:t>) as year, month(</a:t>
                      </a:r>
                      <a:r>
                        <a:rPr lang="en-US" sz="1600" dirty="0" err="1"/>
                        <a:t>order_purchase_timestamp</a:t>
                      </a:r>
                      <a:r>
                        <a:rPr lang="en-US" sz="1600" dirty="0"/>
                        <a:t>) as month, sum(</a:t>
                      </a:r>
                      <a:r>
                        <a:rPr lang="en-US" sz="1600" dirty="0" err="1"/>
                        <a:t>p.payment_value</a:t>
                      </a:r>
                      <a:r>
                        <a:rPr lang="en-US" sz="1600" dirty="0"/>
                        <a:t>) as sales    from orders o join payments p on </a:t>
                      </a:r>
                      <a:r>
                        <a:rPr lang="en-US" sz="1600" dirty="0" err="1"/>
                        <a:t>o.order_id</a:t>
                      </a:r>
                      <a:r>
                        <a:rPr lang="en-US" sz="1600" dirty="0"/>
                        <a:t> = </a:t>
                      </a:r>
                      <a:r>
                        <a:rPr lang="en-US" sz="1600" dirty="0" err="1"/>
                        <a:t>p.order_id</a:t>
                      </a:r>
                      <a:r>
                        <a:rPr lang="en-US" sz="1600" dirty="0"/>
                        <a:t> group by year, month)select year, month, sales, SUM(sales) over (partition by year order by month) as </a:t>
                      </a:r>
                      <a:r>
                        <a:rPr lang="en-US" sz="1600" dirty="0" err="1"/>
                        <a:t>cumulative_salesfrom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monthly_sales</a:t>
                      </a:r>
                      <a:r>
                        <a:rPr lang="en-US" sz="1600" dirty="0"/>
                        <a:t>;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2340F3-8E9D-65A9-4B52-80CCA75FE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90253"/>
              </p:ext>
            </p:extLst>
          </p:nvPr>
        </p:nvGraphicFramePr>
        <p:xfrm>
          <a:off x="320040" y="3666734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EECDB97-D7EB-D7B6-2704-F2A787021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691" y="4092911"/>
            <a:ext cx="4277322" cy="2457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DCCF23-177D-D4FC-7887-1CAB693B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895" y="4056335"/>
            <a:ext cx="2426113" cy="276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E9155-DAFA-F15C-5EFB-92019D66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A199-2B94-CF0A-D1C5-573BBC8A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Calculate the year-over-year growth rate of total sales.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7F83B5-F26A-512C-E55A-F1F77A686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337645"/>
              </p:ext>
            </p:extLst>
          </p:nvPr>
        </p:nvGraphicFramePr>
        <p:xfrm>
          <a:off x="320040" y="1428707"/>
          <a:ext cx="11512296" cy="2214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order_pay_totals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payments.groupby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'].sum().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pd.to_datetime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orders['year'] = orders['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dt.year</a:t>
                      </a:r>
                      <a:b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annual_df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(orders[['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'year']],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order_pay_totals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on='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annual_sales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annual_df.groupby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('year')['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'].sum().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annual_sales.columns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['Year', 'Total Sales']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annual_sales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['YoY Growth Rate (%)']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annual_sales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['Total Sales'].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pct_change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* 100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print("Table: Year-over-Year (YoY) Sales Growth")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annual_sales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with </a:t>
                      </a:r>
                      <a:r>
                        <a:rPr lang="en-US" sz="1400" dirty="0" err="1"/>
                        <a:t>yearly_sales</a:t>
                      </a:r>
                      <a:r>
                        <a:rPr lang="en-US" sz="1400" dirty="0"/>
                        <a:t> as (    select year(</a:t>
                      </a:r>
                      <a:r>
                        <a:rPr lang="en-US" sz="1400" dirty="0" err="1"/>
                        <a:t>o.order_purchase_timestamp</a:t>
                      </a:r>
                      <a:r>
                        <a:rPr lang="en-US" sz="1400" dirty="0"/>
                        <a:t>) as year, sum(</a:t>
                      </a:r>
                      <a:r>
                        <a:rPr lang="en-US" sz="1400" dirty="0" err="1"/>
                        <a:t>p.payment_value</a:t>
                      </a:r>
                      <a:r>
                        <a:rPr lang="en-US" sz="1400" dirty="0"/>
                        <a:t>) as </a:t>
                      </a:r>
                      <a:r>
                        <a:rPr lang="en-US" sz="1400" dirty="0" err="1"/>
                        <a:t>total_revenue</a:t>
                      </a:r>
                      <a:r>
                        <a:rPr lang="en-US" sz="1400" dirty="0"/>
                        <a:t>    from orders o join payments p on </a:t>
                      </a:r>
                      <a:r>
                        <a:rPr lang="en-US" sz="1400" dirty="0" err="1"/>
                        <a:t>o.order_id</a:t>
                      </a:r>
                      <a:r>
                        <a:rPr lang="en-US" sz="1400" dirty="0"/>
                        <a:t> = </a:t>
                      </a:r>
                      <a:r>
                        <a:rPr lang="en-US" sz="1400" dirty="0" err="1"/>
                        <a:t>p.order_id</a:t>
                      </a:r>
                      <a:r>
                        <a:rPr lang="en-US" sz="1400" dirty="0"/>
                        <a:t> group by year)select year, </a:t>
                      </a:r>
                      <a:r>
                        <a:rPr lang="en-US" sz="1400" dirty="0" err="1"/>
                        <a:t>total_revenue</a:t>
                      </a:r>
                      <a:r>
                        <a:rPr lang="en-US" sz="1400" dirty="0"/>
                        <a:t>, lag(</a:t>
                      </a:r>
                      <a:r>
                        <a:rPr lang="en-US" sz="1400" dirty="0" err="1"/>
                        <a:t>total_revenue</a:t>
                      </a:r>
                      <a:r>
                        <a:rPr lang="en-US" sz="1400" dirty="0"/>
                        <a:t>) over (order by year) as </a:t>
                      </a:r>
                      <a:r>
                        <a:rPr lang="en-US" sz="1400" dirty="0" err="1"/>
                        <a:t>prev_year_revenue</a:t>
                      </a:r>
                      <a:r>
                        <a:rPr lang="en-US" sz="1400" dirty="0"/>
                        <a:t>,    ((</a:t>
                      </a:r>
                      <a:r>
                        <a:rPr lang="en-US" sz="1400" dirty="0" err="1"/>
                        <a:t>total_revenue</a:t>
                      </a:r>
                      <a:r>
                        <a:rPr lang="en-US" sz="1400" dirty="0"/>
                        <a:t> - lag(</a:t>
                      </a:r>
                      <a:r>
                        <a:rPr lang="en-US" sz="1400" dirty="0" err="1"/>
                        <a:t>total_revenue</a:t>
                      </a:r>
                      <a:r>
                        <a:rPr lang="en-US" sz="1400" dirty="0"/>
                        <a:t>) over (order by year)) / lag(</a:t>
                      </a:r>
                      <a:r>
                        <a:rPr lang="en-US" sz="1400" dirty="0" err="1"/>
                        <a:t>total_revenue</a:t>
                      </a:r>
                      <a:r>
                        <a:rPr lang="en-US" sz="1400" dirty="0"/>
                        <a:t>) over (order by year)) * 100 as </a:t>
                      </a:r>
                      <a:r>
                        <a:rPr lang="en-US" sz="1400" dirty="0" err="1"/>
                        <a:t>yoy_growth_percentagefrom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yearly_sales</a:t>
                      </a:r>
                      <a:r>
                        <a:rPr lang="en-US" sz="1400" dirty="0"/>
                        <a:t>;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5128C2-8B5A-4ED8-4447-8F7CCDD49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76741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76EA9D6-4232-FA18-A4BA-1F79F180D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398" y="4408109"/>
            <a:ext cx="5191850" cy="876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EDAF18-5F62-9300-EEF0-FB5927D97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189" y="4173497"/>
            <a:ext cx="3934374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42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BF1BA-52BA-1B92-B14E-FD8405BBF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C013-DD42-7708-E302-78FE3085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225953"/>
            <a:ext cx="11814048" cy="1325563"/>
          </a:xfrm>
        </p:spPr>
        <p:txBody>
          <a:bodyPr>
            <a:noAutofit/>
          </a:bodyPr>
          <a:lstStyle/>
          <a:p>
            <a:r>
              <a:rPr lang="en-IN" sz="2800" dirty="0"/>
              <a:t>Calculate the retention rate of customers, defined as the percentage of customers who make another purchase within 6 months of their first purchase.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8D9791-540E-FB29-A7A8-E863A83F2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653542"/>
              </p:ext>
            </p:extLst>
          </p:nvPr>
        </p:nvGraphicFramePr>
        <p:xfrm>
          <a:off x="320040" y="1428707"/>
          <a:ext cx="11512296" cy="2473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(orders[['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customers[['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on='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pd.to_datetime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first_date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df.groupby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'].min().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first_date.columns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first_buy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df.merge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first_date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on='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retained_mask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&gt;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first_buy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 &amp; \ 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&lt;=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first_buy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 +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pd.Timedelta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(days=180))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retained_count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retained_mask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nunique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total_count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nunique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f"Retention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Rate: {(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retained_count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IN" sz="11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total_count</a:t>
                      </a:r>
                      <a:r>
                        <a:rPr lang="en-IN" sz="11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* 100:.2f}%")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50" dirty="0"/>
                        <a:t>WITH </a:t>
                      </a:r>
                      <a:r>
                        <a:rPr lang="en-IN" sz="1150" dirty="0" err="1"/>
                        <a:t>FirstPurchases</a:t>
                      </a:r>
                      <a:r>
                        <a:rPr lang="en-IN" sz="1150" dirty="0"/>
                        <a:t> AS (SELECT </a:t>
                      </a:r>
                      <a:r>
                        <a:rPr lang="en-IN" sz="1150" dirty="0" err="1"/>
                        <a:t>c.customer_unique_id</a:t>
                      </a:r>
                      <a:r>
                        <a:rPr lang="en-IN" sz="1150" dirty="0"/>
                        <a:t>, MIN(</a:t>
                      </a:r>
                      <a:r>
                        <a:rPr lang="en-IN" sz="1150" dirty="0" err="1"/>
                        <a:t>o.order_purchase_timestamp</a:t>
                      </a:r>
                      <a:r>
                        <a:rPr lang="en-IN" sz="1150" dirty="0"/>
                        <a:t>) AS </a:t>
                      </a:r>
                      <a:r>
                        <a:rPr lang="en-IN" sz="1150" dirty="0" err="1"/>
                        <a:t>first_order_date</a:t>
                      </a:r>
                      <a:r>
                        <a:rPr lang="en-IN" sz="1150" dirty="0"/>
                        <a:t>    FROM customers c JOIN orders o ON </a:t>
                      </a:r>
                      <a:r>
                        <a:rPr lang="en-IN" sz="1150" dirty="0" err="1"/>
                        <a:t>c.customer_id</a:t>
                      </a:r>
                      <a:r>
                        <a:rPr lang="en-IN" sz="1150" dirty="0"/>
                        <a:t> = </a:t>
                      </a:r>
                      <a:r>
                        <a:rPr lang="en-IN" sz="1150" dirty="0" err="1"/>
                        <a:t>o.customer_id</a:t>
                      </a:r>
                      <a:r>
                        <a:rPr lang="en-IN" sz="1150" dirty="0"/>
                        <a:t>    GROUP BY </a:t>
                      </a:r>
                      <a:r>
                        <a:rPr lang="en-IN" sz="1150" dirty="0" err="1"/>
                        <a:t>c.customer_unique_id</a:t>
                      </a:r>
                      <a:r>
                        <a:rPr lang="en-IN" sz="1150" dirty="0"/>
                        <a:t>),</a:t>
                      </a:r>
                      <a:r>
                        <a:rPr lang="en-IN" sz="1150" dirty="0" err="1"/>
                        <a:t>RetentionFlags</a:t>
                      </a:r>
                      <a:r>
                        <a:rPr lang="en-IN" sz="1150" dirty="0"/>
                        <a:t> AS (SELECT </a:t>
                      </a:r>
                      <a:r>
                        <a:rPr lang="en-IN" sz="1150" dirty="0" err="1"/>
                        <a:t>f.customer_unique_id</a:t>
                      </a:r>
                      <a:r>
                        <a:rPr lang="en-IN" sz="1150" dirty="0"/>
                        <a:t>,        MAX(CASE WHEN </a:t>
                      </a:r>
                      <a:r>
                        <a:rPr lang="en-IN" sz="1150" dirty="0" err="1"/>
                        <a:t>o.order_purchase_timestamp</a:t>
                      </a:r>
                      <a:r>
                        <a:rPr lang="en-IN" sz="1150" dirty="0"/>
                        <a:t> &gt; </a:t>
                      </a:r>
                      <a:r>
                        <a:rPr lang="en-IN" sz="1150" dirty="0" err="1"/>
                        <a:t>f.first_order_date</a:t>
                      </a:r>
                      <a:r>
                        <a:rPr lang="en-IN" sz="1150" dirty="0"/>
                        <a:t> AND </a:t>
                      </a:r>
                      <a:r>
                        <a:rPr lang="en-IN" sz="1150" dirty="0" err="1"/>
                        <a:t>o.order_purchase_timestamp</a:t>
                      </a:r>
                      <a:r>
                        <a:rPr lang="en-IN" sz="1150" dirty="0"/>
                        <a:t> &lt;= DATE_ADD(</a:t>
                      </a:r>
                      <a:r>
                        <a:rPr lang="en-IN" sz="1150" dirty="0" err="1"/>
                        <a:t>f.first_order_date</a:t>
                      </a:r>
                      <a:r>
                        <a:rPr lang="en-IN" sz="1150" dirty="0"/>
                        <a:t>, INTERVAL 180 DAY) THEN 1 ELSE 0         END) AS </a:t>
                      </a:r>
                      <a:r>
                        <a:rPr lang="en-IN" sz="1150" dirty="0" err="1"/>
                        <a:t>is_retained</a:t>
                      </a:r>
                      <a:r>
                        <a:rPr lang="en-IN" sz="1150" dirty="0"/>
                        <a:t>    FROM </a:t>
                      </a:r>
                      <a:r>
                        <a:rPr lang="en-IN" sz="1150" dirty="0" err="1"/>
                        <a:t>FirstPurchases</a:t>
                      </a:r>
                      <a:r>
                        <a:rPr lang="en-IN" sz="1150" dirty="0"/>
                        <a:t> f JOIN customers c ON </a:t>
                      </a:r>
                      <a:r>
                        <a:rPr lang="en-IN" sz="1150" dirty="0" err="1"/>
                        <a:t>f.customer_unique_id</a:t>
                      </a:r>
                      <a:r>
                        <a:rPr lang="en-IN" sz="1150" dirty="0"/>
                        <a:t> = </a:t>
                      </a:r>
                      <a:r>
                        <a:rPr lang="en-IN" sz="1150" dirty="0" err="1"/>
                        <a:t>c.customer_unique_id</a:t>
                      </a:r>
                      <a:r>
                        <a:rPr lang="en-IN" sz="1150" dirty="0"/>
                        <a:t>    JOIN orders o ON </a:t>
                      </a:r>
                      <a:r>
                        <a:rPr lang="en-IN" sz="1150" dirty="0" err="1"/>
                        <a:t>c.customer_id</a:t>
                      </a:r>
                      <a:r>
                        <a:rPr lang="en-IN" sz="1150" dirty="0"/>
                        <a:t> = </a:t>
                      </a:r>
                      <a:r>
                        <a:rPr lang="en-IN" sz="1150" dirty="0" err="1"/>
                        <a:t>o.customer_id</a:t>
                      </a:r>
                      <a:r>
                        <a:rPr lang="en-IN" sz="1150" dirty="0"/>
                        <a:t> GROUP BY </a:t>
                      </a:r>
                      <a:r>
                        <a:rPr lang="en-IN" sz="1150" dirty="0" err="1"/>
                        <a:t>f.customer_unique_id</a:t>
                      </a:r>
                      <a:r>
                        <a:rPr lang="en-IN" sz="1150" dirty="0"/>
                        <a:t>)SELECT (SUM(</a:t>
                      </a:r>
                      <a:r>
                        <a:rPr lang="en-IN" sz="1150" dirty="0" err="1"/>
                        <a:t>is_retained</a:t>
                      </a:r>
                      <a:r>
                        <a:rPr lang="en-IN" sz="1150" dirty="0"/>
                        <a:t>) * 100.0 / COUNT(*)) AS </a:t>
                      </a:r>
                      <a:r>
                        <a:rPr lang="en-IN" sz="1150" dirty="0" err="1"/>
                        <a:t>retention_rate</a:t>
                      </a:r>
                      <a:r>
                        <a:rPr lang="en-IN" sz="1150" dirty="0"/>
                        <a:t> FROM </a:t>
                      </a:r>
                      <a:r>
                        <a:rPr lang="en-IN" sz="1150" dirty="0" err="1"/>
                        <a:t>RetentionFlags</a:t>
                      </a:r>
                      <a:r>
                        <a:rPr lang="en-IN" sz="1150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7C775D-BB39-D2D1-720F-567FA2CC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085455"/>
              </p:ext>
            </p:extLst>
          </p:nvPr>
        </p:nvGraphicFramePr>
        <p:xfrm>
          <a:off x="320040" y="391362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4ED510A-FF76-92CF-8360-8F2AEDF10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363" y="4734680"/>
            <a:ext cx="2576989" cy="9731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404A30-89DD-5618-A3EF-E99828DFF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878" y="4800578"/>
            <a:ext cx="2172003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46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3A5E-EBA8-8C1F-5D95-E70232D0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9F55-72A8-D08B-9AF6-401883F5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4" y="225953"/>
            <a:ext cx="11472672" cy="1325563"/>
          </a:xfrm>
        </p:spPr>
        <p:txBody>
          <a:bodyPr>
            <a:normAutofit/>
          </a:bodyPr>
          <a:lstStyle/>
          <a:p>
            <a:r>
              <a:rPr lang="en-IN" sz="4000" dirty="0"/>
              <a:t>Identify the top 3 customers who spent the most money in each year.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46C28F-CA0C-D31E-6C88-664DE7B10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937259"/>
              </p:ext>
            </p:extLst>
          </p:nvPr>
        </p:nvGraphicFramePr>
        <p:xfrm>
          <a:off x="320040" y="1428707"/>
          <a:ext cx="11512296" cy="2047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3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3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300" dirty="0"/>
                        <a:t>Python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SQL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order_pay_totals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payments.groupby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'].sum().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orders['year'] = orders['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order_purchase_timestamp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dt.year</a:t>
                      </a:r>
                      <a:endParaRPr lang="en-IN" sz="115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(orders[['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'year',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order_pay_totals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on='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pd.merge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customers[['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']], on='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customer_yearly_spending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df.groupby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(['year',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customer_unique_id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'])['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'].sum().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reset_index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top_3_per_year = 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customer_yearly_spending.sort_values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(['year', '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payment_value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'], ascending=[True, False]).</a:t>
                      </a:r>
                      <a:r>
                        <a:rPr lang="en-IN" sz="11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groupby</a:t>
                      </a:r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('year').head(3)</a:t>
                      </a:r>
                    </a:p>
                    <a:p>
                      <a:r>
                        <a:rPr lang="en-IN" sz="11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display(top_3_per_year)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WITH </a:t>
                      </a:r>
                      <a:r>
                        <a:rPr lang="en-US" sz="1300" dirty="0" err="1"/>
                        <a:t>customer_spending</a:t>
                      </a:r>
                      <a:r>
                        <a:rPr lang="en-US" sz="1300" dirty="0"/>
                        <a:t> AS (    SELECT year(</a:t>
                      </a:r>
                      <a:r>
                        <a:rPr lang="en-US" sz="1300" dirty="0" err="1"/>
                        <a:t>o.order_purchase_timestamp</a:t>
                      </a:r>
                      <a:r>
                        <a:rPr lang="en-US" sz="1300" dirty="0"/>
                        <a:t>) as year, </a:t>
                      </a:r>
                      <a:r>
                        <a:rPr lang="en-US" sz="1300" dirty="0" err="1"/>
                        <a:t>c.customer_unique_id</a:t>
                      </a:r>
                      <a:r>
                        <a:rPr lang="en-US" sz="1300" dirty="0"/>
                        <a:t>, sum(</a:t>
                      </a:r>
                      <a:r>
                        <a:rPr lang="en-US" sz="1300" dirty="0" err="1"/>
                        <a:t>p.payment_value</a:t>
                      </a:r>
                      <a:r>
                        <a:rPr lang="en-US" sz="1300" dirty="0"/>
                        <a:t>) as </a:t>
                      </a:r>
                      <a:r>
                        <a:rPr lang="en-US" sz="1300" dirty="0" err="1"/>
                        <a:t>total_spent</a:t>
                      </a:r>
                      <a:r>
                        <a:rPr lang="en-US" sz="1300" dirty="0"/>
                        <a:t>    from customers c    join orders o on </a:t>
                      </a:r>
                      <a:r>
                        <a:rPr lang="en-US" sz="1300" dirty="0" err="1"/>
                        <a:t>c.customer_id</a:t>
                      </a:r>
                      <a:r>
                        <a:rPr lang="en-US" sz="1300" dirty="0"/>
                        <a:t> = </a:t>
                      </a:r>
                      <a:r>
                        <a:rPr lang="en-US" sz="1300" dirty="0" err="1"/>
                        <a:t>o.customer_id</a:t>
                      </a:r>
                      <a:r>
                        <a:rPr lang="en-US" sz="1300" dirty="0"/>
                        <a:t>    join payments p on </a:t>
                      </a:r>
                      <a:r>
                        <a:rPr lang="en-US" sz="1300" dirty="0" err="1"/>
                        <a:t>o.order_id</a:t>
                      </a:r>
                      <a:r>
                        <a:rPr lang="en-US" sz="1300" dirty="0"/>
                        <a:t> = </a:t>
                      </a:r>
                      <a:r>
                        <a:rPr lang="en-US" sz="1300" dirty="0" err="1"/>
                        <a:t>p.order_id</a:t>
                      </a:r>
                      <a:r>
                        <a:rPr lang="en-US" sz="1300" dirty="0"/>
                        <a:t>    group by year, </a:t>
                      </a:r>
                      <a:r>
                        <a:rPr lang="en-US" sz="1300" dirty="0" err="1"/>
                        <a:t>c.customer_unique_id</a:t>
                      </a:r>
                      <a:r>
                        <a:rPr lang="en-US" sz="1300" dirty="0"/>
                        <a:t>), </a:t>
                      </a:r>
                      <a:r>
                        <a:rPr lang="en-US" sz="1300" dirty="0" err="1"/>
                        <a:t>ranked_customers</a:t>
                      </a:r>
                      <a:r>
                        <a:rPr lang="en-US" sz="1300" dirty="0"/>
                        <a:t> as (    select year, </a:t>
                      </a:r>
                      <a:r>
                        <a:rPr lang="en-US" sz="1300" dirty="0" err="1"/>
                        <a:t>customer_unique_id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total_spent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dense_rank</a:t>
                      </a:r>
                      <a:r>
                        <a:rPr lang="en-US" sz="1300" dirty="0"/>
                        <a:t>() over (partition by year order by </a:t>
                      </a:r>
                      <a:r>
                        <a:rPr lang="en-US" sz="1300" dirty="0" err="1"/>
                        <a:t>total_spent</a:t>
                      </a:r>
                      <a:r>
                        <a:rPr lang="en-US" sz="1300" dirty="0"/>
                        <a:t> desc) as </a:t>
                      </a:r>
                      <a:r>
                        <a:rPr lang="en-US" sz="1300" dirty="0" err="1"/>
                        <a:t>spend_rank</a:t>
                      </a:r>
                      <a:r>
                        <a:rPr lang="en-US" sz="1300" dirty="0"/>
                        <a:t>    from </a:t>
                      </a:r>
                      <a:r>
                        <a:rPr lang="en-US" sz="1300" dirty="0" err="1"/>
                        <a:t>customer_spending</a:t>
                      </a:r>
                      <a:r>
                        <a:rPr lang="en-US" sz="1300" dirty="0"/>
                        <a:t>)select * from </a:t>
                      </a:r>
                      <a:r>
                        <a:rPr lang="en-US" sz="1300" dirty="0" err="1"/>
                        <a:t>ranked_customers</a:t>
                      </a:r>
                      <a:r>
                        <a:rPr lang="en-US" sz="1300" dirty="0"/>
                        <a:t> where </a:t>
                      </a:r>
                      <a:r>
                        <a:rPr lang="en-US" sz="1300" dirty="0" err="1"/>
                        <a:t>spend_rank</a:t>
                      </a:r>
                      <a:r>
                        <a:rPr lang="en-US" sz="1300" dirty="0"/>
                        <a:t> &lt;= 3;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5252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A885D-A9AA-EA93-D3CF-0D8F0C905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76741"/>
              </p:ext>
            </p:extLst>
          </p:nvPr>
        </p:nvGraphicFramePr>
        <p:xfrm>
          <a:off x="320040" y="3593582"/>
          <a:ext cx="11512296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7514">
                  <a:extLst>
                    <a:ext uri="{9D8B030D-6E8A-4147-A177-3AD203B41FA5}">
                      <a16:colId xmlns:a16="http://schemas.microsoft.com/office/drawing/2014/main" val="1495241188"/>
                    </a:ext>
                  </a:extLst>
                </a:gridCol>
                <a:gridCol w="5764782">
                  <a:extLst>
                    <a:ext uri="{9D8B030D-6E8A-4147-A177-3AD203B41FA5}">
                      <a16:colId xmlns:a16="http://schemas.microsoft.com/office/drawing/2014/main" val="3656725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Python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8789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0043648-E3D7-AE7C-B80B-98B732576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955"/>
          <a:stretch>
            <a:fillRect/>
          </a:stretch>
        </p:blipFill>
        <p:spPr>
          <a:xfrm>
            <a:off x="6465375" y="4205905"/>
            <a:ext cx="4580577" cy="2067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864783-C203-848C-C100-3A1F2647E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4082057"/>
            <a:ext cx="3226282" cy="23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0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F7D89-7782-6097-F45D-0AD54C57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Thank You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AE9E9-DC98-ABFC-B2E7-DFF71885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IN" sz="2400"/>
              <a:t>LinkedIn: </a:t>
            </a:r>
            <a:r>
              <a:rPr lang="en-IN" sz="2400">
                <a:hlinkClick r:id="rId2"/>
              </a:rPr>
              <a:t>https://www.linkedin.com/in/ruchir-a-308240128/</a:t>
            </a:r>
            <a:endParaRPr lang="en-IN" sz="2400"/>
          </a:p>
          <a:p>
            <a:r>
              <a:rPr lang="en-IN" sz="2400"/>
              <a:t>GitHub: </a:t>
            </a:r>
            <a:r>
              <a:rPr lang="en-IN" sz="2400">
                <a:hlinkClick r:id="rId3"/>
              </a:rPr>
              <a:t>https://github.com/ruchira559</a:t>
            </a:r>
            <a:endParaRPr lang="en-IN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89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3536</Words>
  <Application>Microsoft Office PowerPoint</Application>
  <PresentationFormat>Widescreen</PresentationFormat>
  <Paragraphs>201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E-Commerce Marketplace Performance Analysis</vt:lpstr>
      <vt:lpstr>Project Overview &amp; Data Scope</vt:lpstr>
      <vt:lpstr>List all unique cities where customers are located.</vt:lpstr>
      <vt:lpstr>Count the number of orders placed in 2017.</vt:lpstr>
      <vt:lpstr>Find the total sales per category.</vt:lpstr>
      <vt:lpstr>Calculate the percentage of orders that were paid in instalments.</vt:lpstr>
      <vt:lpstr>Count the number of customers from each state.</vt:lpstr>
      <vt:lpstr>Calculate the number of orders per month in 2018.</vt:lpstr>
      <vt:lpstr>Find the average number of products per order, grouped by customer city.</vt:lpstr>
      <vt:lpstr>Calculate the percentage of total revenue contributed by each product category.</vt:lpstr>
      <vt:lpstr>Identify the correlation between product price and the number of times a product has been purchased.</vt:lpstr>
      <vt:lpstr>Calculate the total revenue generated by each seller, and rank them by revenue.</vt:lpstr>
      <vt:lpstr>Calculate the moving average of order values for each customer over their order history.</vt:lpstr>
      <vt:lpstr>Calculate the cumulative sales per month for each year.</vt:lpstr>
      <vt:lpstr>Calculate the year-over-year growth rate of total sales.</vt:lpstr>
      <vt:lpstr>Calculate the retention rate of customers, defined as the percentage of customers who make another purchase within 6 months of their first purchase.</vt:lpstr>
      <vt:lpstr>Identify the top 3 customers who spent the most money in each year.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Ruchir Agrawal</dc:creator>
  <cp:lastModifiedBy>Ruchir Agrawal</cp:lastModifiedBy>
  <cp:revision>18</cp:revision>
  <dcterms:created xsi:type="dcterms:W3CDTF">2026-03-11T12:21:30Z</dcterms:created>
  <dcterms:modified xsi:type="dcterms:W3CDTF">2026-03-23T19:05:34Z</dcterms:modified>
</cp:coreProperties>
</file>